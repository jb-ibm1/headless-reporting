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497" autoAdjust="0"/>
  </p:normalViewPr>
  <p:slideViewPr>
    <p:cSldViewPr snapToGrid="0">
      <p:cViewPr varScale="1">
        <p:scale>
          <a:sx n="55" d="100"/>
          <a:sy n="55" d="100"/>
        </p:scale>
        <p:origin x="1083"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8/31/2026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Title slide. This deck walks through the collaborative design and build process for the SFMC Headless Reporting Agent, from initial problem statement to a fully functional working system.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initial challenge: SFMC has fragmented data surfaces. Email metrics are in MCP, SMS delivery data is REST/SOAP only, and there was no single queryable source or unified analytics layer. The user's core ask was a conversational agent paired with a drilldown dashboard.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First major iteration: the architecture spec. We defined the data routing strategy (MCP vs REST), the drill-level structure (Overview &gt; Journey &gt; Message), and the canonical state object that would bind chat and dashboard together. Key insight: SMS delivery data is not available through MCP — needs REST fallback. Key design outcome / discovery here was the pivot to using comm log as the source of truth over pure MCP tooling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Second major iteration: the interactive dashboard prototype. Built all three drill levels with working filters, sorting, breadcrumb navigation, and CSV export — all on client-side seeded mock data. This let us validate UX and layout before touching real data.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Third iteration: the backend engine. This included the full query pipeline, the paginated SFMC REST client, both normaliser paths (time-series and per-message), the session store, and SFMC OAuth2 token caching in server.js. Key discovery: SFMC REST silently ignores date filters on the DE endpoint, so all date filtering is applied in-memory after the fetch.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Fourth iteration: the conversational agent layer. Key design decisions: four-intent classifier (journey query, overview query, confirm handoff, unknown); strict no-silent-mutation rule for dashboard state; context inheritance so users can ask follow-up questions without restating what they're looking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Iteration 5 covers the key schema and data-layer discoveries made during implementation: the Comm_Log schema confirmation, the SMS JourneyName gap, the two SentDate format variants, and the silent date filter behaviour of the SFMC REST API. Each of these changed how the backend was built.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Final iteration: test suite and documentation. 93 tests in total across both layers, written against Node's built-in test runner with no external framework dependency. Documentation covers the full architecture, all confirmed data model decisions, and the productionisation roadmap.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Summary of what was built. Five source files, 93 tests, full technical documentation. The logic and data handling are production-quality; the gaps before deployment are hosting, authentication, and session persistence — all fully enumerated in the productionisation checklist.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productionisation roadmap from the technical documentation. Five P0 blockers must be resolved before any deployment; P1 covers production quality; P2 covers dashboard completeness; P3 is optional future enhancements.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100000" name="Tag"/>
          <p:cNvSpPr txBox="1"/>
          <p:nvPr/>
        </p:nvSpPr>
        <p:spPr>
          <a:xfrm>
            <a:off x="648000" y="540000"/>
            <a:ext cx="3600000" cy="288000"/>
          </a:xfrm>
          <a:prstGeom prst="rect">
            <a:avLst/>
          </a:prstGeom>
          <a:noFill/>
        </p:spPr>
        <p:txBody>
          <a:bodyPr/>
          <a:lstStyle/>
          <a:p>
            <a:r>
              <a:rPr lang="en-US" sz="1100" b="0">
                <a:solidFill>
                  <a:srgbClr val="3B6FE0"/>
                </a:solidFill>
              </a:rPr>
              <a:t>AusNet × IBM</a:t>
            </a:r>
          </a:p>
        </p:txBody>
      </p:sp>
      <p:sp>
        <p:nvSpPr>
          <p:cNvPr id="100001" name="Title"/>
          <p:cNvSpPr txBox="1"/>
          <p:nvPr/>
        </p:nvSpPr>
        <p:spPr>
          <a:xfrm>
            <a:off x="648000" y="1008000"/>
            <a:ext cx="10440000" cy="1368000"/>
          </a:xfrm>
          <a:prstGeom prst="rect">
            <a:avLst/>
          </a:prstGeom>
          <a:noFill/>
        </p:spPr>
        <p:txBody>
          <a:bodyPr/>
          <a:lstStyle/>
          <a:p>
            <a:r>
              <a:rPr lang="en-US" sz="4000" b="1">
                <a:solidFill>
                  <a:srgbClr val="FFFFFF"/>
                </a:solidFill>
              </a:rPr>
              <a:t>SFMC Headless Reporting Agent</a:t>
            </a:r>
          </a:p>
        </p:txBody>
      </p:sp>
      <p:sp>
        <p:nvSpPr>
          <p:cNvPr id="100002" name="Subtitle"/>
          <p:cNvSpPr txBox="1"/>
          <p:nvPr/>
        </p:nvSpPr>
        <p:spPr>
          <a:xfrm>
            <a:off x="648000" y="2520000"/>
            <a:ext cx="9000000" cy="432000"/>
          </a:xfrm>
          <a:prstGeom prst="rect">
            <a:avLst/>
          </a:prstGeom>
          <a:noFill/>
        </p:spPr>
        <p:txBody>
          <a:bodyPr/>
          <a:lstStyle/>
          <a:p>
            <a:r>
              <a:rPr lang="en-US" sz="2000" b="0">
                <a:solidFill>
                  <a:srgbClr val="9BAABB"/>
                </a:solidFill>
              </a:rPr>
              <a:t>How we designed &amp; built it — the journey</a:t>
            </a:r>
          </a:p>
        </p:txBody>
      </p:sp>
      <p:sp>
        <p:nvSpPr>
          <p:cNvPr id="100003" name="Footer"/>
          <p:cNvSpPr txBox="1"/>
          <p:nvPr/>
        </p:nvSpPr>
        <p:spPr>
          <a:xfrm>
            <a:off x="648000" y="6300000"/>
            <a:ext cx="10800000" cy="288000"/>
          </a:xfrm>
          <a:prstGeom prst="rect">
            <a:avLst/>
          </a:prstGeom>
          <a:noFill/>
        </p:spPr>
        <p:txBody>
          <a:bodyPr/>
          <a:lstStyle/>
          <a:p>
            <a:r>
              <a:rPr lang="en-US" sz="1200" b="0">
                <a:solidFill>
                  <a:srgbClr val="5B6472"/>
                </a:solidFill>
              </a:rPr>
              <a:t>Six iterations · One working system · Zero guesswork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04" name="Label"/>
          <p:cNvSpPr txBox="1"/>
          <p:nvPr/>
        </p:nvSpPr>
        <p:spPr>
          <a:xfrm>
            <a:off x="648000" y="432000"/>
            <a:ext cx="5400000" cy="252000"/>
          </a:xfrm>
          <a:prstGeom prst="rect">
            <a:avLst/>
          </a:prstGeom>
          <a:noFill/>
        </p:spPr>
        <p:txBody>
          <a:bodyPr/>
          <a:lstStyle/>
          <a:p>
            <a:r>
              <a:rPr lang="en-US" sz="1000" b="1">
                <a:solidFill>
                  <a:srgbClr val="3B6FE0"/>
                </a:solidFill>
              </a:rPr>
              <a:t>THE STARTING POINT</a:t>
            </a:r>
          </a:p>
        </p:txBody>
      </p:sp>
      <p:sp>
        <p:nvSpPr>
          <p:cNvPr id="100005" name="Title"/>
          <p:cNvSpPr txBox="1"/>
          <p:nvPr/>
        </p:nvSpPr>
        <p:spPr>
          <a:xfrm>
            <a:off x="648000" y="792000"/>
            <a:ext cx="10080000" cy="792000"/>
          </a:xfrm>
          <a:prstGeom prst="rect">
            <a:avLst/>
          </a:prstGeom>
          <a:noFill/>
        </p:spPr>
        <p:txBody>
          <a:bodyPr/>
          <a:lstStyle/>
          <a:p>
            <a:r>
              <a:rPr lang="en-US" sz="3200" b="1">
                <a:solidFill>
                  <a:srgbClr val="0B1220"/>
                </a:solidFill>
              </a:rPr>
              <a:t>The Problem</a:t>
            </a:r>
          </a:p>
        </p:txBody>
      </p:sp>
      <p:sp>
        <p:nvSpPr>
          <p:cNvPr id="100006" name="Body"/>
          <p:cNvSpPr txBox="1"/>
          <p:nvPr/>
        </p:nvSpPr>
        <p:spPr>
          <a:xfrm>
            <a:off x="648000" y="1800000"/>
            <a:ext cx="10080000" cy="3240000"/>
          </a:xfrm>
          <a:prstGeom prst="rect">
            <a:avLst/>
          </a:prstGeom>
          <a:noFill/>
        </p:spPr>
        <p:txBody>
          <a:bodyPr/>
          <a:lstStyle/>
          <a:p>
            <a:r>
              <a:rPr lang="en-US" sz="1800" b="0" dirty="0">
                <a:solidFill>
                  <a:srgbClr val="1F2328"/>
                </a:solidFill>
              </a:rPr>
              <a:t>AusNet runs multi-channel journeys in SFMC (email, SMS) but had no unified way to query deliverability metrics conversationally or see drill-down analytics across journeys, channels, and time periods.</a:t>
            </a:r>
          </a:p>
          <a:p>
            <a:endParaRPr lang="en-US" sz="1800" b="0" dirty="0">
              <a:solidFill>
                <a:srgbClr val="1F2328"/>
              </a:solidFill>
            </a:endParaRPr>
          </a:p>
          <a:p>
            <a:r>
              <a:rPr lang="en-US" sz="1800" b="0" dirty="0">
                <a:solidFill>
                  <a:srgbClr val="1F2328"/>
                </a:solidFill>
              </a:rPr>
              <a:t>The ask: build an agent that could answer natural-language questions about send performance and hand off context to a live dashboard — without re-prompting the user.</a:t>
            </a:r>
          </a:p>
        </p:txBody>
      </p:sp>
      <p:sp>
        <p:nvSpPr>
          <p:cNvPr id="100007" name="Accent"/>
          <p:cNvSpPr txBox="1"/>
          <p:nvPr/>
        </p:nvSpPr>
        <p:spPr>
          <a:xfrm>
            <a:off x="648000" y="5220000"/>
            <a:ext cx="10080000" cy="432000"/>
          </a:xfrm>
          <a:prstGeom prst="rect">
            <a:avLst/>
          </a:prstGeom>
          <a:solidFill>
            <a:srgbClr val="3B6FE0"/>
          </a:solidFill>
        </p:spPr>
        <p:txBody>
          <a:bodyPr/>
          <a:lstStyle/>
          <a:p>
            <a:r>
              <a:rPr lang="en-US" sz="1500" b="1">
                <a:solidFill>
                  <a:srgbClr val="FFFFFF"/>
                </a:solidFill>
              </a:rPr>
              <a:t>Goal: chat + dashboard, sharing state, backed by SFMC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5F9"/>
        </a:solidFill>
        <a:effectLst/>
      </p:bgPr>
    </p:bg>
    <p:spTree>
      <p:nvGrpSpPr>
        <p:cNvPr id="1" name=""/>
        <p:cNvGrpSpPr/>
        <p:nvPr/>
      </p:nvGrpSpPr>
      <p:grpSpPr>
        <a:xfrm>
          <a:off x="0" y="0"/>
          <a:ext cx="0" cy="0"/>
          <a:chOff x="0" y="0"/>
          <a:chExt cx="0" cy="0"/>
        </a:xfrm>
      </p:grpSpPr>
      <p:sp>
        <p:nvSpPr>
          <p:cNvPr id="100008" name="Label"/>
          <p:cNvSpPr txBox="1"/>
          <p:nvPr/>
        </p:nvSpPr>
        <p:spPr>
          <a:xfrm>
            <a:off x="648000" y="432000"/>
            <a:ext cx="3600000" cy="252000"/>
          </a:xfrm>
          <a:prstGeom prst="rect">
            <a:avLst/>
          </a:prstGeom>
          <a:noFill/>
        </p:spPr>
        <p:txBody>
          <a:bodyPr/>
          <a:lstStyle/>
          <a:p>
            <a:r>
              <a:rPr lang="en-US" sz="1000" b="1">
                <a:solidFill>
                  <a:srgbClr val="3B6FE0"/>
                </a:solidFill>
              </a:rPr>
              <a:t>ITERATION 1</a:t>
            </a:r>
          </a:p>
        </p:txBody>
      </p:sp>
      <p:sp>
        <p:nvSpPr>
          <p:cNvPr id="100009" name="Title"/>
          <p:cNvSpPr txBox="1"/>
          <p:nvPr/>
        </p:nvSpPr>
        <p:spPr>
          <a:xfrm>
            <a:off x="648000" y="792000"/>
            <a:ext cx="10080000" cy="792000"/>
          </a:xfrm>
          <a:prstGeom prst="rect">
            <a:avLst/>
          </a:prstGeom>
          <a:noFill/>
        </p:spPr>
        <p:txBody>
          <a:bodyPr/>
          <a:lstStyle/>
          <a:p>
            <a:r>
              <a:rPr lang="en-US" sz="3200" b="1">
                <a:solidFill>
                  <a:srgbClr val="0B1220"/>
                </a:solidFill>
              </a:rPr>
              <a:t>Architecture Spec &amp; Data Layer Design</a:t>
            </a:r>
          </a:p>
        </p:txBody>
      </p:sp>
      <p:sp>
        <p:nvSpPr>
          <p:cNvPr id="100010" name="ColLeft"/>
          <p:cNvSpPr txBox="1"/>
          <p:nvPr/>
        </p:nvSpPr>
        <p:spPr>
          <a:xfrm>
            <a:off x="648000" y="1872000"/>
            <a:ext cx="5040000" cy="3600000"/>
          </a:xfrm>
          <a:prstGeom prst="rect">
            <a:avLst/>
          </a:prstGeom>
          <a:solidFill>
            <a:srgbClr val="FFFFFF"/>
          </a:solidFill>
        </p:spPr>
        <p:txBody>
          <a:bodyPr/>
          <a:lstStyle/>
          <a:p>
            <a:r>
              <a:rPr lang="en-US" sz="1600" b="0">
                <a:solidFill>
                  <a:srgbClr val="1F2328"/>
                </a:solidFill>
              </a:rPr>
              <a:t>What we designed:</a:t>
            </a:r>
          </a:p>
          <a:p>
            <a:endParaRPr lang="en-US" sz="1600" b="0">
              <a:solidFill>
                <a:srgbClr val="1F2328"/>
              </a:solidFill>
            </a:endParaRPr>
          </a:p>
          <a:p>
            <a:r>
              <a:rPr lang="en-US" sz="1600" b="0">
                <a:solidFill>
                  <a:srgbClr val="1F2328"/>
                </a:solidFill>
              </a:rPr>
              <a:t>• MCP-first routing for email/push metrics</a:t>
            </a:r>
          </a:p>
          <a:p>
            <a:r>
              <a:rPr lang="en-US" sz="1600" b="0">
                <a:solidFill>
                  <a:srgbClr val="1F2328"/>
                </a:solidFill>
              </a:rPr>
              <a:t>• REST fallback for SMS (MCP gap identified)</a:t>
            </a:r>
          </a:p>
          <a:p>
            <a:r>
              <a:rPr lang="en-US" sz="1600" b="0">
                <a:solidFill>
                  <a:srgbClr val="1F2328"/>
                </a:solidFill>
              </a:rPr>
              <a:t>• Capability map — explicit routing table, no reactive failover</a:t>
            </a:r>
          </a:p>
          <a:p>
            <a:r>
              <a:rPr lang="en-US" sz="1600" b="0">
                <a:solidFill>
                  <a:srgbClr val="1F2328"/>
                </a:solidFill>
              </a:rPr>
              <a:t>• Rollup DE strategy: SQL Query Activity (hourly) for fast dashboard queries</a:t>
            </a:r>
          </a:p>
          <a:p>
            <a:r>
              <a:rPr lang="en-US" sz="1600" b="0">
                <a:solidFill>
                  <a:srgbClr val="1F2328"/>
                </a:solidFill>
              </a:rPr>
              <a:t>• Raw DE rows reserved for drill-down only</a:t>
            </a:r>
          </a:p>
        </p:txBody>
      </p:sp>
      <p:sp>
        <p:nvSpPr>
          <p:cNvPr id="100011" name="ColRight"/>
          <p:cNvSpPr txBox="1"/>
          <p:nvPr/>
        </p:nvSpPr>
        <p:spPr>
          <a:xfrm>
            <a:off x="6120000" y="1872000"/>
            <a:ext cx="5040000" cy="3600000"/>
          </a:xfrm>
          <a:prstGeom prst="rect">
            <a:avLst/>
          </a:prstGeom>
          <a:solidFill>
            <a:srgbClr val="FFFFFF"/>
          </a:solidFill>
        </p:spPr>
        <p:txBody>
          <a:bodyPr/>
          <a:lstStyle/>
          <a:p>
            <a:r>
              <a:rPr lang="en-US" sz="1600" b="0">
                <a:solidFill>
                  <a:srgbClr val="1F2328"/>
                </a:solidFill>
              </a:rPr>
              <a:t>Key decisions:</a:t>
            </a:r>
          </a:p>
          <a:p>
            <a:endParaRPr lang="en-US" sz="1600" b="0">
              <a:solidFill>
                <a:srgbClr val="1F2328"/>
              </a:solidFill>
            </a:endParaRPr>
          </a:p>
          <a:p>
            <a:r>
              <a:rPr lang="en-US" sz="1600" b="0">
                <a:solidFill>
                  <a:srgbClr val="1F2328"/>
                </a:solidFill>
              </a:rPr>
              <a:t>• Single source of truth: Comm_Log DE</a:t>
            </a:r>
          </a:p>
          <a:p>
            <a:r>
              <a:rPr lang="en-US" sz="1600" b="0">
                <a:solidFill>
                  <a:srgbClr val="1F2328"/>
                </a:solidFill>
              </a:rPr>
              <a:t>• groupBy derived from date span (≤3d → hourly, else daily)</a:t>
            </a:r>
          </a:p>
          <a:p>
            <a:r>
              <a:rPr lang="en-US" sz="1600" b="0">
                <a:solidFill>
                  <a:srgbClr val="1F2328"/>
                </a:solidFill>
              </a:rPr>
              <a:t>• Chat ↔ dashboard share a canonical viewState JSON</a:t>
            </a:r>
          </a:p>
          <a:p>
            <a:r>
              <a:rPr lang="en-US" sz="1600" b="0">
                <a:solidFill>
                  <a:srgbClr val="1F2328"/>
                </a:solidFill>
              </a:rPr>
              <a:t>• Agent must propose dashboard handoff — no silent state mutation</a:t>
            </a:r>
          </a:p>
          <a:p>
            <a:r>
              <a:rPr lang="en-US" sz="1600" b="0">
                <a:solidFill>
                  <a:srgbClr val="1F2328"/>
                </a:solidFill>
              </a:rPr>
              <a:t>• SSE/WebSocket spec written, later dropped (agent runs inside Bob context)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12" name="Label"/>
          <p:cNvSpPr txBox="1"/>
          <p:nvPr/>
        </p:nvSpPr>
        <p:spPr>
          <a:xfrm>
            <a:off x="648000" y="432000"/>
            <a:ext cx="3600000" cy="252000"/>
          </a:xfrm>
          <a:prstGeom prst="rect">
            <a:avLst/>
          </a:prstGeom>
          <a:noFill/>
        </p:spPr>
        <p:txBody>
          <a:bodyPr/>
          <a:lstStyle/>
          <a:p>
            <a:r>
              <a:rPr lang="en-US" sz="1000" b="1">
                <a:solidFill>
                  <a:srgbClr val="3B6FE0"/>
                </a:solidFill>
              </a:rPr>
              <a:t>ITERATION 2</a:t>
            </a:r>
          </a:p>
        </p:txBody>
      </p:sp>
      <p:sp>
        <p:nvSpPr>
          <p:cNvPr id="100013" name="Title"/>
          <p:cNvSpPr txBox="1"/>
          <p:nvPr/>
        </p:nvSpPr>
        <p:spPr>
          <a:xfrm>
            <a:off x="648000" y="792000"/>
            <a:ext cx="10080000" cy="792000"/>
          </a:xfrm>
          <a:prstGeom prst="rect">
            <a:avLst/>
          </a:prstGeom>
          <a:noFill/>
        </p:spPr>
        <p:txBody>
          <a:bodyPr/>
          <a:lstStyle/>
          <a:p>
            <a:r>
              <a:rPr lang="en-US" sz="3200" b="1">
                <a:solidFill>
                  <a:srgbClr val="0B1220"/>
                </a:solidFill>
              </a:rPr>
              <a:t>Dashboard UI Prototype</a:t>
            </a:r>
          </a:p>
        </p:txBody>
      </p:sp>
      <p:sp>
        <p:nvSpPr>
          <p:cNvPr id="100014" name="Body"/>
          <p:cNvSpPr txBox="1"/>
          <p:nvPr/>
        </p:nvSpPr>
        <p:spPr>
          <a:xfrm>
            <a:off x="648000" y="1800000"/>
            <a:ext cx="10080000" cy="900000"/>
          </a:xfrm>
          <a:prstGeom prst="rect">
            <a:avLst/>
          </a:prstGeom>
          <a:noFill/>
        </p:spPr>
        <p:txBody>
          <a:bodyPr/>
          <a:lstStyle/>
          <a:p>
            <a:r>
              <a:rPr lang="en-US" sz="1700" b="0">
                <a:solidFill>
                  <a:srgbClr val="1F2328"/>
                </a:solidFill>
              </a:rPr>
              <a:t>Built a fully functional React dashboard (Headless_Reporting_Dashboard.jsx) with mock-seeded data shaped like the Comm_Log DE. Three drill levels, working from the first render.</a:t>
            </a:r>
          </a:p>
        </p:txBody>
      </p:sp>
      <p:sp>
        <p:nvSpPr>
          <p:cNvPr id="100015" name="Screen1"/>
          <p:cNvSpPr txBox="1"/>
          <p:nvPr/>
        </p:nvSpPr>
        <p:spPr>
          <a:xfrm>
            <a:off x="648000" y="2952000"/>
            <a:ext cx="3060000" cy="1800000"/>
          </a:xfrm>
          <a:prstGeom prst="rect">
            <a:avLst/>
          </a:prstGeom>
          <a:solidFill>
            <a:srgbClr val="F3F5F9"/>
          </a:solidFill>
        </p:spPr>
        <p:txBody>
          <a:bodyPr/>
          <a:lstStyle/>
          <a:p>
            <a:r>
              <a:rPr lang="en-US" sz="1400" b="0">
                <a:solidFill>
                  <a:srgbClr val="1F2328"/>
                </a:solidFill>
              </a:rPr>
              <a:t>Screen 1 — Overview</a:t>
            </a:r>
          </a:p>
          <a:p>
            <a:r>
              <a:rPr lang="en-US" sz="1400" b="0">
                <a:solidFill>
                  <a:srgbClr val="1F2328"/>
                </a:solidFill>
              </a:rPr>
              <a:t>KPI tiles, sortable journey table, sparklines, channel filter</a:t>
            </a:r>
          </a:p>
        </p:txBody>
      </p:sp>
      <p:sp>
        <p:nvSpPr>
          <p:cNvPr id="100016" name="Screen2"/>
          <p:cNvSpPr txBox="1"/>
          <p:nvPr/>
        </p:nvSpPr>
        <p:spPr>
          <a:xfrm>
            <a:off x="4104000" y="2952000"/>
            <a:ext cx="3060000" cy="1800000"/>
          </a:xfrm>
          <a:prstGeom prst="rect">
            <a:avLst/>
          </a:prstGeom>
          <a:solidFill>
            <a:srgbClr val="F3F5F9"/>
          </a:solidFill>
        </p:spPr>
        <p:txBody>
          <a:bodyPr/>
          <a:lstStyle/>
          <a:p>
            <a:r>
              <a:rPr lang="en-US" sz="1400" b="0">
                <a:solidFill>
                  <a:srgbClr val="1F2328"/>
                </a:solidFill>
              </a:rPr>
              <a:t>Screen 2 — Journey</a:t>
            </a:r>
          </a:p>
          <a:p>
            <a:r>
              <a:rPr lang="en-US" sz="1400" b="0">
                <a:solidFill>
                  <a:srgbClr val="1F2328"/>
                </a:solidFill>
              </a:rPr>
              <a:t>Trend chart, status donut, message table, breadcrumb nav</a:t>
            </a:r>
          </a:p>
        </p:txBody>
      </p:sp>
      <p:sp>
        <p:nvSpPr>
          <p:cNvPr id="100017" name="Screen3"/>
          <p:cNvSpPr txBox="1"/>
          <p:nvPr/>
        </p:nvSpPr>
        <p:spPr>
          <a:xfrm>
            <a:off x="7560000" y="2952000"/>
            <a:ext cx="3060000" cy="1800000"/>
          </a:xfrm>
          <a:prstGeom prst="rect">
            <a:avLst/>
          </a:prstGeom>
          <a:solidFill>
            <a:srgbClr val="F3F5F9"/>
          </a:solidFill>
        </p:spPr>
        <p:txBody>
          <a:bodyPr/>
          <a:lstStyle/>
          <a:p>
            <a:r>
              <a:rPr lang="en-US" sz="1400" b="0">
                <a:solidFill>
                  <a:srgbClr val="1F2328"/>
                </a:solidFill>
              </a:rPr>
              <a:t>Screen 3 — Message</a:t>
            </a:r>
          </a:p>
          <a:p>
            <a:r>
              <a:rPr lang="en-US" sz="1400" b="0">
                <a:solidFill>
                  <a:srgbClr val="1F2328"/>
                </a:solidFill>
              </a:rPr>
              <a:t>Hourly/daily send trend, status breakdown, CSV export</a:t>
            </a:r>
          </a:p>
        </p:txBody>
      </p:sp>
      <p:sp>
        <p:nvSpPr>
          <p:cNvPr id="100018" name="Note"/>
          <p:cNvSpPr txBox="1"/>
          <p:nvPr/>
        </p:nvSpPr>
        <p:spPr>
          <a:xfrm>
            <a:off x="648000" y="5220000"/>
            <a:ext cx="10080000" cy="432000"/>
          </a:xfrm>
          <a:prstGeom prst="rect">
            <a:avLst/>
          </a:prstGeom>
          <a:noFill/>
        </p:spPr>
        <p:txBody>
          <a:bodyPr/>
          <a:lstStyle/>
          <a:p>
            <a:r>
              <a:rPr lang="en-US" sz="1300" b="0">
                <a:solidFill>
                  <a:srgbClr val="5B6472"/>
                </a:solidFill>
              </a:rPr>
              <a:t>Design tokens locked in: Space Grotesk headings · Inter body · IBM Plex Mono data  |  Seeded mock data (deterministic) — append-only JOURNEY_DEFS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5F9"/>
        </a:solidFill>
        <a:effectLst/>
      </p:bgPr>
    </p:bg>
    <p:spTree>
      <p:nvGrpSpPr>
        <p:cNvPr id="1" name=""/>
        <p:cNvGrpSpPr/>
        <p:nvPr/>
      </p:nvGrpSpPr>
      <p:grpSpPr>
        <a:xfrm>
          <a:off x="0" y="0"/>
          <a:ext cx="0" cy="0"/>
          <a:chOff x="0" y="0"/>
          <a:chExt cx="0" cy="0"/>
        </a:xfrm>
      </p:grpSpPr>
      <p:sp>
        <p:nvSpPr>
          <p:cNvPr id="100019" name="Label"/>
          <p:cNvSpPr txBox="1"/>
          <p:nvPr/>
        </p:nvSpPr>
        <p:spPr>
          <a:xfrm>
            <a:off x="648000" y="432000"/>
            <a:ext cx="3600000" cy="252000"/>
          </a:xfrm>
          <a:prstGeom prst="rect">
            <a:avLst/>
          </a:prstGeom>
          <a:noFill/>
        </p:spPr>
        <p:txBody>
          <a:bodyPr/>
          <a:lstStyle/>
          <a:p>
            <a:r>
              <a:rPr lang="en-US" sz="1000" b="1">
                <a:solidFill>
                  <a:srgbClr val="3B6FE0"/>
                </a:solidFill>
              </a:rPr>
              <a:t>ITERATION 3</a:t>
            </a:r>
          </a:p>
        </p:txBody>
      </p:sp>
      <p:sp>
        <p:nvSpPr>
          <p:cNvPr id="100020" name="Title"/>
          <p:cNvSpPr txBox="1"/>
          <p:nvPr/>
        </p:nvSpPr>
        <p:spPr>
          <a:xfrm>
            <a:off x="648000" y="792000"/>
            <a:ext cx="10080000" cy="792000"/>
          </a:xfrm>
          <a:prstGeom prst="rect">
            <a:avLst/>
          </a:prstGeom>
          <a:noFill/>
        </p:spPr>
        <p:txBody>
          <a:bodyPr/>
          <a:lstStyle/>
          <a:p>
            <a:r>
              <a:rPr lang="en-US" sz="3200" b="1">
                <a:solidFill>
                  <a:srgbClr val="0B1220"/>
                </a:solidFill>
              </a:rPr>
              <a:t>Backend Query Engine</a:t>
            </a:r>
          </a:p>
        </p:txBody>
      </p:sp>
      <p:sp>
        <p:nvSpPr>
          <p:cNvPr id="100021" name="Body"/>
          <p:cNvSpPr txBox="1"/>
          <p:nvPr/>
        </p:nvSpPr>
        <p:spPr>
          <a:xfrm>
            <a:off x="648000" y="1800000"/>
            <a:ext cx="10080000" cy="720000"/>
          </a:xfrm>
          <a:prstGeom prst="rect">
            <a:avLst/>
          </a:prstGeom>
          <a:noFill/>
        </p:spPr>
        <p:txBody>
          <a:bodyPr/>
          <a:lstStyle/>
          <a:p>
            <a:r>
              <a:rPr lang="en-US" sz="1700" b="0">
                <a:solidFill>
                  <a:srgbClr val="1F2328"/>
                </a:solidFill>
              </a:rPr>
              <a:t>Built the Express backend (Headless_Reporting_Agent_Backend.js + server.js) — the core query pipeline, SFMC auth, and session state that powers both surfaces.</a:t>
            </a:r>
          </a:p>
        </p:txBody>
      </p:sp>
      <p:sp>
        <p:nvSpPr>
          <p:cNvPr id="100022" name="Col1"/>
          <p:cNvSpPr txBox="1"/>
          <p:nvPr/>
        </p:nvSpPr>
        <p:spPr>
          <a:xfrm>
            <a:off x="648000" y="2700000"/>
            <a:ext cx="3060000" cy="1620000"/>
          </a:xfrm>
          <a:prstGeom prst="rect">
            <a:avLst/>
          </a:prstGeom>
          <a:solidFill>
            <a:srgbClr val="FFFFFF"/>
          </a:solidFill>
        </p:spPr>
        <p:txBody>
          <a:bodyPr/>
          <a:lstStyle/>
          <a:p>
            <a:r>
              <a:rPr lang="en-US" sz="1400" b="0">
                <a:solidFill>
                  <a:srgbClr val="1F2328"/>
                </a:solidFill>
              </a:rPr>
              <a:t>parseQuery()</a:t>
            </a:r>
          </a:p>
          <a:p>
            <a:r>
              <a:rPr lang="en-US" sz="1400" b="0">
                <a:solidFill>
                  <a:srgbClr val="1F2328"/>
                </a:solidFill>
              </a:rPr>
              <a:t>Natural language intent → structured params. Derives groupBy from date span; enforces drill-level mismatch guard.</a:t>
            </a:r>
          </a:p>
        </p:txBody>
      </p:sp>
      <p:sp>
        <p:nvSpPr>
          <p:cNvPr id="100023" name="Col2"/>
          <p:cNvSpPr txBox="1"/>
          <p:nvPr/>
        </p:nvSpPr>
        <p:spPr>
          <a:xfrm>
            <a:off x="4104000" y="2700000"/>
            <a:ext cx="3060000" cy="1620000"/>
          </a:xfrm>
          <a:prstGeom prst="rect">
            <a:avLst/>
          </a:prstGeom>
          <a:solidFill>
            <a:srgbClr val="FFFFFF"/>
          </a:solidFill>
        </p:spPr>
        <p:txBody>
          <a:bodyPr/>
          <a:lstStyle/>
          <a:p>
            <a:r>
              <a:rPr lang="en-US" sz="1400" b="0">
                <a:solidFill>
                  <a:srgbClr val="1F2328"/>
                </a:solidFill>
              </a:rPr>
              <a:t>fetchFromRestFallback()</a:t>
            </a:r>
          </a:p>
          <a:p>
            <a:r>
              <a:rPr lang="en-US" sz="1400" b="0">
                <a:solidFill>
                  <a:srgbClr val="1F2328"/>
                </a:solidFill>
              </a:rPr>
              <a:t>Paginated Comm_Log DE query via SFMC REST API. 2,500-row pages; in-memory date filter (SFMC silently ignores sentdate filter).</a:t>
            </a:r>
          </a:p>
        </p:txBody>
      </p:sp>
      <p:sp>
        <p:nvSpPr>
          <p:cNvPr id="100024" name="Col3"/>
          <p:cNvSpPr txBox="1"/>
          <p:nvPr/>
        </p:nvSpPr>
        <p:spPr>
          <a:xfrm>
            <a:off x="7560000" y="2700000"/>
            <a:ext cx="3060000" cy="1620000"/>
          </a:xfrm>
          <a:prstGeom prst="rect">
            <a:avLst/>
          </a:prstGeom>
          <a:solidFill>
            <a:srgbClr val="FFFFFF"/>
          </a:solidFill>
        </p:spPr>
        <p:txBody>
          <a:bodyPr/>
          <a:lstStyle/>
          <a:p>
            <a:r>
              <a:rPr lang="en-US" sz="1400" b="0">
                <a:solidFill>
                  <a:srgbClr val="1F2328"/>
                </a:solidFill>
              </a:rPr>
              <a:t>normalizeRestRows()</a:t>
            </a:r>
          </a:p>
          <a:p>
            <a:r>
              <a:rPr lang="en-US" sz="1400" b="0">
                <a:solidFill>
                  <a:srgbClr val="1F2328"/>
                </a:solidFill>
              </a:rPr>
              <a:t>normalizeMessageRows()</a:t>
            </a:r>
          </a:p>
          <a:p>
            <a:r>
              <a:rPr lang="en-US" sz="1400" b="0">
                <a:solidFill>
                  <a:srgbClr val="1F2328"/>
                </a:solidFill>
              </a:rPr>
              <a:t>Raw rows → MetricBucket[ ] or MessageEntry[ ] grouped by day or hour. computeRates() adds 6 derived rate fields.</a:t>
            </a:r>
          </a:p>
        </p:txBody>
      </p:sp>
      <p:sp>
        <p:nvSpPr>
          <p:cNvPr id="100025" name="Col4"/>
          <p:cNvSpPr txBox="1"/>
          <p:nvPr/>
        </p:nvSpPr>
        <p:spPr>
          <a:xfrm>
            <a:off x="648000" y="4752000"/>
            <a:ext cx="4320000" cy="1440000"/>
          </a:xfrm>
          <a:prstGeom prst="rect">
            <a:avLst/>
          </a:prstGeom>
          <a:solidFill>
            <a:srgbClr val="FFFFFF"/>
          </a:solidFill>
        </p:spPr>
        <p:txBody>
          <a:bodyPr/>
          <a:lstStyle/>
          <a:p>
            <a:r>
              <a:rPr lang="en-US" sz="1400" b="0">
                <a:solidFill>
                  <a:srgbClr val="1F2328"/>
                </a:solidFill>
              </a:rPr>
              <a:t>SESSION_STORE</a:t>
            </a:r>
          </a:p>
          <a:p>
            <a:r>
              <a:rPr lang="en-US" sz="1400" b="0">
                <a:solidFill>
                  <a:srgbClr val="1F2328"/>
                </a:solidFill>
              </a:rPr>
              <a:t>In-memory Map. GET/PATCH /session/:id/state. Drill-level mismatch guard on every PATCH. setSessionDetail() advances updatedAt to trigger dashboard re-render.</a:t>
            </a:r>
          </a:p>
        </p:txBody>
      </p:sp>
      <p:sp>
        <p:nvSpPr>
          <p:cNvPr id="100026" name="Col5"/>
          <p:cNvSpPr txBox="1"/>
          <p:nvPr/>
        </p:nvSpPr>
        <p:spPr>
          <a:xfrm>
            <a:off x="5400000" y="4752000"/>
            <a:ext cx="5220000" cy="1440000"/>
          </a:xfrm>
          <a:prstGeom prst="rect">
            <a:avLst/>
          </a:prstGeom>
          <a:solidFill>
            <a:srgbClr val="FFFFFF"/>
          </a:solidFill>
        </p:spPr>
        <p:txBody>
          <a:bodyPr/>
          <a:lstStyle/>
          <a:p>
            <a:r>
              <a:rPr lang="en-US" sz="1400" b="0">
                <a:solidFill>
                  <a:srgbClr val="1F2328"/>
                </a:solidFill>
              </a:rPr>
              <a:t>SFMC OAuth2</a:t>
            </a:r>
          </a:p>
          <a:p>
            <a:r>
              <a:rPr lang="en-US" sz="1400" b="0">
                <a:solidFill>
                  <a:srgbClr val="1F2328"/>
                </a:solidFill>
              </a:rPr>
              <a:t>Client-credentials token cache in server.js. Token reused until 5 min before expiry. Credentials via process.env (SFMC_CLIENT_ID, SFMC_CLIENT_SECRET, etc.).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27" name="Label"/>
          <p:cNvSpPr txBox="1"/>
          <p:nvPr/>
        </p:nvSpPr>
        <p:spPr>
          <a:xfrm>
            <a:off x="648000" y="432000"/>
            <a:ext cx="3600000" cy="252000"/>
          </a:xfrm>
          <a:prstGeom prst="rect">
            <a:avLst/>
          </a:prstGeom>
          <a:noFill/>
        </p:spPr>
        <p:txBody>
          <a:bodyPr/>
          <a:lstStyle/>
          <a:p>
            <a:r>
              <a:rPr lang="en-US" sz="1000" b="1">
                <a:solidFill>
                  <a:srgbClr val="3B6FE0"/>
                </a:solidFill>
              </a:rPr>
              <a:t>ITERATION 4</a:t>
            </a:r>
          </a:p>
        </p:txBody>
      </p:sp>
      <p:sp>
        <p:nvSpPr>
          <p:cNvPr id="100028" name="Title"/>
          <p:cNvSpPr txBox="1"/>
          <p:nvPr/>
        </p:nvSpPr>
        <p:spPr>
          <a:xfrm>
            <a:off x="648000" y="792000"/>
            <a:ext cx="10080000" cy="792000"/>
          </a:xfrm>
          <a:prstGeom prst="rect">
            <a:avLst/>
          </a:prstGeom>
          <a:noFill/>
        </p:spPr>
        <p:txBody>
          <a:bodyPr/>
          <a:lstStyle/>
          <a:p>
            <a:r>
              <a:rPr lang="en-US" sz="3200" b="1">
                <a:solidFill>
                  <a:srgbClr val="0B1220"/>
                </a:solidFill>
              </a:rPr>
              <a:t>Conversational Agent Layer</a:t>
            </a:r>
          </a:p>
        </p:txBody>
      </p:sp>
      <p:sp>
        <p:nvSpPr>
          <p:cNvPr id="100029" name="Intro"/>
          <p:cNvSpPr txBox="1"/>
          <p:nvPr/>
        </p:nvSpPr>
        <p:spPr>
          <a:xfrm>
            <a:off x="648000" y="1800000"/>
            <a:ext cx="10080000" cy="720000"/>
          </a:xfrm>
          <a:prstGeom prst="rect">
            <a:avLst/>
          </a:prstGeom>
          <a:noFill/>
        </p:spPr>
        <p:txBody>
          <a:bodyPr/>
          <a:lstStyle/>
          <a:p>
            <a:r>
              <a:rPr lang="en-US" sz="1700" b="0">
                <a:solidFill>
                  <a:srgbClr val="1F2328"/>
                </a:solidFill>
              </a:rPr>
              <a:t>Built Headless_Reporting_Agent.js — the natural-language interface sitting above the backend. Single entry point: handleUserMessage().</a:t>
            </a:r>
          </a:p>
        </p:txBody>
      </p:sp>
      <p:sp>
        <p:nvSpPr>
          <p:cNvPr id="100030" name="Intent"/>
          <p:cNvSpPr txBox="1"/>
          <p:nvPr/>
        </p:nvSpPr>
        <p:spPr>
          <a:xfrm>
            <a:off x="648000" y="2700000"/>
            <a:ext cx="4860000" cy="2880000"/>
          </a:xfrm>
          <a:prstGeom prst="rect">
            <a:avLst/>
          </a:prstGeom>
          <a:solidFill>
            <a:srgbClr val="F3F5F9"/>
          </a:solidFill>
        </p:spPr>
        <p:txBody>
          <a:bodyPr/>
          <a:lstStyle/>
          <a:p>
            <a:r>
              <a:rPr lang="en-US" sz="1400" b="0">
                <a:solidFill>
                  <a:srgbClr val="1F2328"/>
                </a:solidFill>
              </a:rPr>
              <a:t>Intent Classification (parseIntent())</a:t>
            </a:r>
          </a:p>
          <a:p>
            <a:endParaRPr lang="en-US" sz="1400" b="0">
              <a:solidFill>
                <a:srgbClr val="1F2328"/>
              </a:solidFill>
            </a:endParaRPr>
          </a:p>
          <a:p>
            <a:r>
              <a:rPr lang="en-US" sz="1400" b="0">
                <a:solidFill>
                  <a:srgbClr val="1F2328"/>
                </a:solidFill>
              </a:rPr>
              <a:t>journey_query — named journey found in text</a:t>
            </a:r>
          </a:p>
          <a:p>
            <a:r>
              <a:rPr lang="en-US" sz="1400" b="0">
                <a:solidFill>
                  <a:srgbClr val="1F2328"/>
                </a:solidFill>
              </a:rPr>
              <a:t>overview_query — 'all journeys', 'worst', 'ranking'</a:t>
            </a:r>
          </a:p>
          <a:p>
            <a:r>
              <a:rPr lang="en-US" sz="1400" b="0">
                <a:solidFill>
                  <a:srgbClr val="1F2328"/>
                </a:solidFill>
              </a:rPr>
              <a:t>confirm_handoff — 'yes', 'sure', 'go ahead'</a:t>
            </a:r>
          </a:p>
          <a:p>
            <a:r>
              <a:rPr lang="en-US" sz="1400" b="0">
                <a:solidFill>
                  <a:srgbClr val="1F2328"/>
                </a:solidFill>
              </a:rPr>
              <a:t>unknown — returns guided help; no state change</a:t>
            </a:r>
          </a:p>
        </p:txBody>
      </p:sp>
      <p:sp>
        <p:nvSpPr>
          <p:cNvPr id="100031" name="Handoff"/>
          <p:cNvSpPr txBox="1"/>
          <p:nvPr/>
        </p:nvSpPr>
        <p:spPr>
          <a:xfrm>
            <a:off x="5940000" y="2700000"/>
            <a:ext cx="4680000" cy="1620000"/>
          </a:xfrm>
          <a:prstGeom prst="rect">
            <a:avLst/>
          </a:prstGeom>
          <a:solidFill>
            <a:srgbClr val="F3F5F9"/>
          </a:solidFill>
        </p:spPr>
        <p:txBody>
          <a:bodyPr/>
          <a:lstStyle/>
          <a:p>
            <a:r>
              <a:rPr lang="en-US" sz="1400" b="0">
                <a:solidFill>
                  <a:srgbClr val="1F2328"/>
                </a:solidFill>
              </a:rPr>
              <a:t>Handoff Protocol</a:t>
            </a:r>
          </a:p>
          <a:p>
            <a:endParaRPr lang="en-US" sz="1400" b="0">
              <a:solidFill>
                <a:srgbClr val="1F2328"/>
              </a:solidFill>
            </a:endParaRPr>
          </a:p>
          <a:p>
            <a:r>
              <a:rPr lang="en-US" sz="1400" b="0">
                <a:solidFill>
                  <a:srgbClr val="1F2328"/>
                </a:solidFill>
              </a:rPr>
              <a:t>Agent NEVER silently mutates state.</a:t>
            </a:r>
          </a:p>
          <a:p>
            <a:r>
              <a:rPr lang="en-US" sz="1400" b="0">
                <a:solidFill>
                  <a:srgbClr val="1F2328"/>
                </a:solidFill>
              </a:rPr>
              <a:t>Stores pending handoff_offer in PENDING_HANDOFFS Map.</a:t>
            </a:r>
          </a:p>
          <a:p>
            <a:r>
              <a:rPr lang="en-US" sz="1400" b="0">
                <a:solidFill>
                  <a:srgbClr val="1F2328"/>
                </a:solidFill>
              </a:rPr>
              <a:t>Only commits patchSessionState() on explicit user confirmation (or dashboardActive: true for in-context updates).</a:t>
            </a:r>
          </a:p>
        </p:txBody>
      </p:sp>
      <p:sp>
        <p:nvSpPr>
          <p:cNvPr id="100032" name="Context"/>
          <p:cNvSpPr txBox="1"/>
          <p:nvPr/>
        </p:nvSpPr>
        <p:spPr>
          <a:xfrm>
            <a:off x="5940000" y="4752000"/>
            <a:ext cx="4680000" cy="1260000"/>
          </a:xfrm>
          <a:prstGeom prst="rect">
            <a:avLst/>
          </a:prstGeom>
          <a:solidFill>
            <a:srgbClr val="F3F5F9"/>
          </a:solidFill>
        </p:spPr>
        <p:txBody>
          <a:bodyPr/>
          <a:lstStyle/>
          <a:p>
            <a:r>
              <a:rPr lang="en-US" sz="1400" b="0">
                <a:solidFill>
                  <a:srgbClr val="1F2328"/>
                </a:solidFill>
              </a:rPr>
              <a:t>Context Inheritance</a:t>
            </a:r>
          </a:p>
          <a:p>
            <a:endParaRPr lang="en-US" sz="1400" b="0">
              <a:solidFill>
                <a:srgbClr val="1F2328"/>
              </a:solidFill>
            </a:endParaRPr>
          </a:p>
          <a:p>
            <a:r>
              <a:rPr lang="en-US" sz="1400" b="0">
                <a:solidFill>
                  <a:srgbClr val="1F2328"/>
                </a:solidFill>
              </a:rPr>
              <a:t>Every turn starts with getSessionState() — partial queries ('show me SMS instead') inherit journey, date range, and drill level without the user re-stating them.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5F9"/>
        </a:solidFill>
        <a:effectLst/>
      </p:bgPr>
    </p:bg>
    <p:spTree>
      <p:nvGrpSpPr>
        <p:cNvPr id="1" name=""/>
        <p:cNvGrpSpPr/>
        <p:nvPr/>
      </p:nvGrpSpPr>
      <p:grpSpPr>
        <a:xfrm>
          <a:off x="0" y="0"/>
          <a:ext cx="0" cy="0"/>
          <a:chOff x="0" y="0"/>
          <a:chExt cx="0" cy="0"/>
        </a:xfrm>
      </p:grpSpPr>
      <p:sp>
        <p:nvSpPr>
          <p:cNvPr id="100033" name="Label"/>
          <p:cNvSpPr txBox="1"/>
          <p:nvPr/>
        </p:nvSpPr>
        <p:spPr>
          <a:xfrm>
            <a:off x="648000" y="432000"/>
            <a:ext cx="10080000" cy="252000"/>
          </a:xfrm>
          <a:prstGeom prst="rect">
            <a:avLst/>
          </a:prstGeom>
          <a:noFill/>
        </p:spPr>
        <p:txBody>
          <a:bodyPr/>
          <a:lstStyle/>
          <a:p>
            <a:r>
              <a:rPr lang="en-US" sz="1000" b="1">
                <a:solidFill>
                  <a:srgbClr val="3B6FE0"/>
                </a:solidFill>
              </a:rPr>
              <a:t>ITERATION 5 — KEY DISCOVERIES ALONG THE WAY</a:t>
            </a:r>
          </a:p>
        </p:txBody>
      </p:sp>
      <p:sp>
        <p:nvSpPr>
          <p:cNvPr id="100034" name="Title"/>
          <p:cNvSpPr txBox="1"/>
          <p:nvPr/>
        </p:nvSpPr>
        <p:spPr>
          <a:xfrm>
            <a:off x="648000" y="792000"/>
            <a:ext cx="10080000" cy="792000"/>
          </a:xfrm>
          <a:prstGeom prst="rect">
            <a:avLst/>
          </a:prstGeom>
          <a:noFill/>
        </p:spPr>
        <p:txBody>
          <a:bodyPr/>
          <a:lstStyle/>
          <a:p>
            <a:r>
              <a:rPr lang="en-US" sz="3200" b="1">
                <a:solidFill>
                  <a:srgbClr val="0B1220"/>
                </a:solidFill>
              </a:rPr>
              <a:t>Data Model Discoveries &amp; Schema Confirmations</a:t>
            </a:r>
          </a:p>
        </p:txBody>
      </p:sp>
      <p:sp>
        <p:nvSpPr>
          <p:cNvPr id="100035" name="D1"/>
          <p:cNvSpPr txBox="1"/>
          <p:nvPr/>
        </p:nvSpPr>
        <p:spPr>
          <a:xfrm>
            <a:off x="648000" y="1872000"/>
            <a:ext cx="10080000" cy="900000"/>
          </a:xfrm>
          <a:prstGeom prst="rect">
            <a:avLst/>
          </a:prstGeom>
          <a:solidFill>
            <a:srgbClr val="FFFFFF"/>
          </a:solidFill>
        </p:spPr>
        <p:txBody>
          <a:bodyPr/>
          <a:lstStyle/>
          <a:p>
            <a:r>
              <a:rPr lang="en-US" sz="1400" b="0">
                <a:solidFill>
                  <a:srgbClr val="1F2328"/>
                </a:solidFill>
              </a:rPr>
              <a:t>Comm_Log DE confirmed as single source of truth</a:t>
            </a:r>
          </a:p>
          <a:p>
            <a:r>
              <a:rPr lang="en-US" sz="1400" b="0">
                <a:solidFill>
                  <a:srgbClr val="1F2328"/>
                </a:solidFill>
              </a:rPr>
              <a:t>Comm_Log_Schema.csv provided real field names — replaced all placeholder guesses. MessageStatus exhaustive set confirmed: Sent, Delivered, Opened, Clicked, Bounced, Undelivered (no 'Failed' value).</a:t>
            </a:r>
          </a:p>
        </p:txBody>
      </p:sp>
      <p:sp>
        <p:nvSpPr>
          <p:cNvPr id="100036" name="D2"/>
          <p:cNvSpPr txBox="1"/>
          <p:nvPr/>
        </p:nvSpPr>
        <p:spPr>
          <a:xfrm>
            <a:off x="648000" y="3024000"/>
            <a:ext cx="10080000" cy="900000"/>
          </a:xfrm>
          <a:prstGeom prst="rect">
            <a:avLst/>
          </a:prstGeom>
          <a:solidFill>
            <a:srgbClr val="FFFFFF"/>
          </a:solidFill>
        </p:spPr>
        <p:txBody>
          <a:bodyPr/>
          <a:lstStyle/>
          <a:p>
            <a:r>
              <a:rPr lang="en-US" sz="1400" b="0">
                <a:solidFill>
                  <a:srgbClr val="1F2328"/>
                </a:solidFill>
              </a:rPr>
              <a:t>SMS rows don't populate JourneyName</a:t>
            </a:r>
          </a:p>
          <a:p>
            <a:r>
              <a:rPr lang="en-US" sz="1400" b="0">
                <a:solidFill>
                  <a:srgbClr val="1F2328"/>
                </a:solidFill>
              </a:rPr>
              <a:t>SMS rows leave JourneyName blank. Journey discovery was switched to MessageName stem (messageNameStem() strips _Email / _SMS / _Push suffix) — ensuring SMS journeys appear alongside email in overview results.</a:t>
            </a:r>
          </a:p>
        </p:txBody>
      </p:sp>
      <p:sp>
        <p:nvSpPr>
          <p:cNvPr id="100037" name="D3"/>
          <p:cNvSpPr txBox="1"/>
          <p:nvPr/>
        </p:nvSpPr>
        <p:spPr>
          <a:xfrm>
            <a:off x="648000" y="4176000"/>
            <a:ext cx="10080000" cy="900000"/>
          </a:xfrm>
          <a:prstGeom prst="rect">
            <a:avLst/>
          </a:prstGeom>
          <a:solidFill>
            <a:srgbClr val="FFFFFF"/>
          </a:solidFill>
        </p:spPr>
        <p:txBody>
          <a:bodyPr/>
          <a:lstStyle/>
          <a:p>
            <a:r>
              <a:rPr lang="en-US" sz="1400" b="0">
                <a:solidFill>
                  <a:srgbClr val="1F2328"/>
                </a:solidFill>
              </a:rPr>
              <a:t>Two SentDate formats in the same DE</a:t>
            </a:r>
          </a:p>
          <a:p>
            <a:r>
              <a:rPr lang="en-US" sz="1400" b="0">
                <a:solidFill>
                  <a:srgbClr val="1F2328"/>
                </a:solidFill>
              </a:rPr>
              <a:t>Email rows: US locale (3/24/2025 11:45:00 AM). SMS rows: AU locale (22/08/2026, 5:03 am — comma separator, no seconds). Explicit regex parser handles both; new Date() was never reliable here. Confirmed and locked into parseSfmcDate().</a:t>
            </a:r>
          </a:p>
        </p:txBody>
      </p:sp>
      <p:sp>
        <p:nvSpPr>
          <p:cNvPr id="100038" name="D4"/>
          <p:cNvSpPr txBox="1"/>
          <p:nvPr/>
        </p:nvSpPr>
        <p:spPr>
          <a:xfrm>
            <a:off x="648000" y="5328000"/>
            <a:ext cx="10080000" cy="900000"/>
          </a:xfrm>
          <a:prstGeom prst="rect">
            <a:avLst/>
          </a:prstGeom>
          <a:solidFill>
            <a:srgbClr val="FFFFFF"/>
          </a:solidFill>
        </p:spPr>
        <p:txBody>
          <a:bodyPr/>
          <a:lstStyle/>
          <a:p>
            <a:r>
              <a:rPr lang="en-US" sz="1400" b="0">
                <a:solidFill>
                  <a:srgbClr val="1F2328"/>
                </a:solidFill>
              </a:rPr>
              <a:t>SFMC REST silently ignores SentDate filter on the DE endpoint</a:t>
            </a:r>
          </a:p>
          <a:p>
            <a:r>
              <a:rPr lang="en-US" sz="1400" b="0">
                <a:solidFill>
                  <a:srgbClr val="1F2328"/>
                </a:solidFill>
              </a:rPr>
              <a:t>The /data/v1/customobjectdata rowset API accepts the filter expression but does not apply it for Date fields. All date filtering is applied in-memory in normalizeRestRows() after the full fetch.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39" name="Label"/>
          <p:cNvSpPr txBox="1"/>
          <p:nvPr/>
        </p:nvSpPr>
        <p:spPr>
          <a:xfrm>
            <a:off x="648000" y="432000"/>
            <a:ext cx="3600000" cy="252000"/>
          </a:xfrm>
          <a:prstGeom prst="rect">
            <a:avLst/>
          </a:prstGeom>
          <a:noFill/>
        </p:spPr>
        <p:txBody>
          <a:bodyPr/>
          <a:lstStyle/>
          <a:p>
            <a:r>
              <a:rPr lang="en-US" sz="1000" b="1">
                <a:solidFill>
                  <a:srgbClr val="3B6FE0"/>
                </a:solidFill>
              </a:rPr>
              <a:t>ITERATION 6</a:t>
            </a:r>
          </a:p>
        </p:txBody>
      </p:sp>
      <p:sp>
        <p:nvSpPr>
          <p:cNvPr id="100040" name="Title"/>
          <p:cNvSpPr txBox="1"/>
          <p:nvPr/>
        </p:nvSpPr>
        <p:spPr>
          <a:xfrm>
            <a:off x="648000" y="792000"/>
            <a:ext cx="10080000" cy="792000"/>
          </a:xfrm>
          <a:prstGeom prst="rect">
            <a:avLst/>
          </a:prstGeom>
          <a:noFill/>
        </p:spPr>
        <p:txBody>
          <a:bodyPr/>
          <a:lstStyle/>
          <a:p>
            <a:r>
              <a:rPr lang="en-US" sz="3200" b="1">
                <a:solidFill>
                  <a:srgbClr val="0B1220"/>
                </a:solidFill>
              </a:rPr>
              <a:t>Test Suite &amp; Documentation</a:t>
            </a:r>
          </a:p>
        </p:txBody>
      </p:sp>
      <p:sp>
        <p:nvSpPr>
          <p:cNvPr id="100041" name="Intro"/>
          <p:cNvSpPr txBox="1"/>
          <p:nvPr/>
        </p:nvSpPr>
        <p:spPr>
          <a:xfrm>
            <a:off x="648000" y="1800000"/>
            <a:ext cx="10080000" cy="720000"/>
          </a:xfrm>
          <a:prstGeom prst="rect">
            <a:avLst/>
          </a:prstGeom>
          <a:noFill/>
        </p:spPr>
        <p:txBody>
          <a:bodyPr/>
          <a:lstStyle/>
          <a:p>
            <a:r>
              <a:rPr lang="en-US" sz="1700" b="0">
                <a:solidFill>
                  <a:srgbClr val="1F2328"/>
                </a:solidFill>
              </a:rPr>
              <a:t>Built a full unit + integration test suite (Node built-in test runner — no external framework). All tests pass. Produced the Technical &amp; Solution Documentation artifact.</a:t>
            </a:r>
          </a:p>
        </p:txBody>
      </p:sp>
      <p:sp>
        <p:nvSpPr>
          <p:cNvPr id="100042" name="BackendTests"/>
          <p:cNvSpPr txBox="1"/>
          <p:nvPr/>
        </p:nvSpPr>
        <p:spPr>
          <a:xfrm>
            <a:off x="648000" y="2700000"/>
            <a:ext cx="4860000" cy="2880000"/>
          </a:xfrm>
          <a:prstGeom prst="rect">
            <a:avLst/>
          </a:prstGeom>
          <a:solidFill>
            <a:srgbClr val="F3F5F9"/>
          </a:solidFill>
        </p:spPr>
        <p:txBody>
          <a:bodyPr/>
          <a:lstStyle/>
          <a:p>
            <a:r>
              <a:rPr lang="en-US" sz="1400" b="0">
                <a:solidFill>
                  <a:srgbClr val="1F2328"/>
                </a:solidFill>
              </a:rPr>
              <a:t>Backend tests (51 tests across 6 suites)</a:t>
            </a:r>
          </a:p>
          <a:p>
            <a:endParaRPr lang="en-US" sz="1400" b="0">
              <a:solidFill>
                <a:srgbClr val="1F2328"/>
              </a:solidFill>
            </a:endParaRPr>
          </a:p>
          <a:p>
            <a:r>
              <a:rPr lang="en-US" sz="1400" b="0">
                <a:solidFill>
                  <a:srgbClr val="1F2328"/>
                </a:solidFill>
              </a:rPr>
              <a:t>computeRates — 5 tests</a:t>
            </a:r>
          </a:p>
          <a:p>
            <a:r>
              <a:rPr lang="en-US" sz="1400" b="0">
                <a:solidFill>
                  <a:srgbClr val="1F2328"/>
                </a:solidFill>
              </a:rPr>
              <a:t>filterByStatus — 7 tests</a:t>
            </a:r>
          </a:p>
          <a:p>
            <a:r>
              <a:rPr lang="en-US" sz="1400" b="0">
                <a:solidFill>
                  <a:srgbClr val="1F2328"/>
                </a:solidFill>
              </a:rPr>
              <a:t>parseQuery — 12 tests</a:t>
            </a:r>
          </a:p>
          <a:p>
            <a:r>
              <a:rPr lang="en-US" sz="1400" b="0">
                <a:solidFill>
                  <a:srgbClr val="1F2328"/>
                </a:solidFill>
              </a:rPr>
              <a:t>normalizeRestRows — 13 tests (incl. SMS AU-locale dates)</a:t>
            </a:r>
          </a:p>
          <a:p>
            <a:r>
              <a:rPr lang="en-US" sz="1400" b="0">
                <a:solidFill>
                  <a:srgbClr val="1F2328"/>
                </a:solidFill>
              </a:rPr>
              <a:t>patchSessionState — 6 tests</a:t>
            </a:r>
          </a:p>
          <a:p>
            <a:r>
              <a:rPr lang="en-US" sz="1400" b="0">
                <a:solidFill>
                  <a:srgbClr val="1F2328"/>
                </a:solidFill>
              </a:rPr>
              <a:t>normalizeMessageRows — 8 tests</a:t>
            </a:r>
          </a:p>
        </p:txBody>
      </p:sp>
      <p:sp>
        <p:nvSpPr>
          <p:cNvPr id="100043" name="AgentTests"/>
          <p:cNvSpPr txBox="1"/>
          <p:nvPr/>
        </p:nvSpPr>
        <p:spPr>
          <a:xfrm>
            <a:off x="5940000" y="2700000"/>
            <a:ext cx="4680000" cy="2880000"/>
          </a:xfrm>
          <a:prstGeom prst="rect">
            <a:avLst/>
          </a:prstGeom>
          <a:solidFill>
            <a:srgbClr val="F3F5F9"/>
          </a:solidFill>
        </p:spPr>
        <p:txBody>
          <a:bodyPr/>
          <a:lstStyle/>
          <a:p>
            <a:r>
              <a:rPr lang="en-US" sz="1400" b="0">
                <a:solidFill>
                  <a:srgbClr val="1F2328"/>
                </a:solidFill>
              </a:rPr>
              <a:t>Agent tests (42 tests across 7 suites)</a:t>
            </a:r>
          </a:p>
          <a:p>
            <a:endParaRPr lang="en-US" sz="1400" b="0">
              <a:solidFill>
                <a:srgbClr val="1F2328"/>
              </a:solidFill>
            </a:endParaRPr>
          </a:p>
          <a:p>
            <a:r>
              <a:rPr lang="en-US" sz="1400" b="0">
                <a:solidFill>
                  <a:srgbClr val="1F2328"/>
                </a:solidFill>
              </a:rPr>
              <a:t>parseIntent — 15 tests (all 4 intents, channel/range/metric extraction)</a:t>
            </a:r>
          </a:p>
          <a:p>
            <a:r>
              <a:rPr lang="en-US" sz="1400" b="0">
                <a:solidFill>
                  <a:srgbClr val="1F2328"/>
                </a:solidFill>
              </a:rPr>
              <a:t>sumBuckets — 3 tests</a:t>
            </a:r>
          </a:p>
          <a:p>
            <a:r>
              <a:rPr lang="en-US" sz="1400" b="0">
                <a:solidFill>
                  <a:srgbClr val="1F2328"/>
                </a:solidFill>
              </a:rPr>
              <a:t>formatJourneyResponse — 5 tests</a:t>
            </a:r>
          </a:p>
          <a:p>
            <a:r>
              <a:rPr lang="en-US" sz="1400" b="0">
                <a:solidFill>
                  <a:srgbClr val="1F2328"/>
                </a:solidFill>
              </a:rPr>
              <a:t>formatOverviewResponse — 5 tests</a:t>
            </a:r>
          </a:p>
          <a:p>
            <a:r>
              <a:rPr lang="en-US" sz="1400" b="0">
                <a:solidFill>
                  <a:srgbClr val="1F2328"/>
                </a:solidFill>
              </a:rPr>
              <a:t>buildJourneyHandoff — 6 tests</a:t>
            </a:r>
          </a:p>
          <a:p>
            <a:r>
              <a:rPr lang="en-US" sz="1400" b="0">
                <a:solidFill>
                  <a:srgbClr val="1F2328"/>
                </a:solidFill>
              </a:rPr>
              <a:t>buildOverviewHandoff — 4 tests</a:t>
            </a:r>
          </a:p>
          <a:p>
            <a:r>
              <a:rPr lang="en-US" sz="1400" b="0">
                <a:solidFill>
                  <a:srgbClr val="1F2328"/>
                </a:solidFill>
              </a:rPr>
              <a:t>handleUserMessage (integration) — 10 tests</a:t>
            </a:r>
          </a:p>
        </p:txBody>
      </p:sp>
      <p:sp>
        <p:nvSpPr>
          <p:cNvPr id="100044" name="DocNote"/>
          <p:cNvSpPr txBox="1"/>
          <p:nvPr/>
        </p:nvSpPr>
        <p:spPr>
          <a:xfrm>
            <a:off x="648000" y="5832000"/>
            <a:ext cx="10080000" cy="540000"/>
          </a:xfrm>
          <a:prstGeom prst="rect">
            <a:avLst/>
          </a:prstGeom>
          <a:noFill/>
        </p:spPr>
        <p:txBody>
          <a:bodyPr/>
          <a:lstStyle/>
          <a:p>
            <a:r>
              <a:rPr lang="en-US" sz="1400" b="0">
                <a:solidFill>
                  <a:srgbClr val="5B6472"/>
                </a:solidFill>
              </a:rPr>
              <a:t>Technical documentation covers: architecture diagram, DE schema, all 6 metric formulas, API reference, local dependency audit, and 16-item productionisation checklist (P0 → P3).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5F9"/>
        </a:solidFill>
        <a:effectLst/>
      </p:bgPr>
    </p:bg>
    <p:spTree>
      <p:nvGrpSpPr>
        <p:cNvPr id="1" name=""/>
        <p:cNvGrpSpPr/>
        <p:nvPr/>
      </p:nvGrpSpPr>
      <p:grpSpPr>
        <a:xfrm>
          <a:off x="0" y="0"/>
          <a:ext cx="0" cy="0"/>
          <a:chOff x="0" y="0"/>
          <a:chExt cx="0" cy="0"/>
        </a:xfrm>
      </p:grpSpPr>
      <p:sp>
        <p:nvSpPr>
          <p:cNvPr id="100045" name="Label"/>
          <p:cNvSpPr txBox="1"/>
          <p:nvPr/>
        </p:nvSpPr>
        <p:spPr>
          <a:xfrm>
            <a:off x="648000" y="432000"/>
            <a:ext cx="5400000" cy="252000"/>
          </a:xfrm>
          <a:prstGeom prst="rect">
            <a:avLst/>
          </a:prstGeom>
          <a:noFill/>
        </p:spPr>
        <p:txBody>
          <a:bodyPr/>
          <a:lstStyle/>
          <a:p>
            <a:r>
              <a:rPr lang="en-US" sz="1000" b="1">
                <a:solidFill>
                  <a:srgbClr val="3B6FE0"/>
                </a:solidFill>
              </a:rPr>
              <a:t>WHERE WE LANDED</a:t>
            </a:r>
          </a:p>
        </p:txBody>
      </p:sp>
      <p:sp>
        <p:nvSpPr>
          <p:cNvPr id="100046" name="Title"/>
          <p:cNvSpPr txBox="1"/>
          <p:nvPr/>
        </p:nvSpPr>
        <p:spPr>
          <a:xfrm>
            <a:off x="648000" y="792000"/>
            <a:ext cx="10080000" cy="720000"/>
          </a:xfrm>
          <a:prstGeom prst="rect">
            <a:avLst/>
          </a:prstGeom>
          <a:noFill/>
        </p:spPr>
        <p:txBody>
          <a:bodyPr/>
          <a:lstStyle/>
          <a:p>
            <a:r>
              <a:rPr lang="en-US" sz="3200" b="1">
                <a:solidFill>
                  <a:srgbClr val="0B1220"/>
                </a:solidFill>
              </a:rPr>
              <a:t>What Was Built</a:t>
            </a:r>
          </a:p>
        </p:txBody>
      </p:sp>
      <p:sp>
        <p:nvSpPr>
          <p:cNvPr id="100047" name="F1"/>
          <p:cNvSpPr txBox="1"/>
          <p:nvPr/>
        </p:nvSpPr>
        <p:spPr>
          <a:xfrm>
            <a:off x="648000" y="1800000"/>
            <a:ext cx="4860000" cy="1440000"/>
          </a:xfrm>
          <a:prstGeom prst="rect">
            <a:avLst/>
          </a:prstGeom>
          <a:solidFill>
            <a:srgbClr val="FFFFFF"/>
          </a:solidFill>
        </p:spPr>
        <p:txBody>
          <a:bodyPr/>
          <a:lstStyle/>
          <a:p>
            <a:r>
              <a:rPr lang="en-US" sz="1300" b="0">
                <a:solidFill>
                  <a:srgbClr val="1F2328"/>
                </a:solidFill>
              </a:rPr>
              <a:t>server.js</a:t>
            </a:r>
          </a:p>
          <a:p>
            <a:r>
              <a:rPr lang="en-US" sz="1300" b="0">
                <a:solidFill>
                  <a:srgbClr val="1F2328"/>
                </a:solidFill>
              </a:rPr>
              <a:t>Express HTTP server. OAuth2 token cache. MCP shim for standalone use. Serves dashboard static files. All API endpoints.</a:t>
            </a:r>
          </a:p>
        </p:txBody>
      </p:sp>
      <p:sp>
        <p:nvSpPr>
          <p:cNvPr id="100048" name="F2"/>
          <p:cNvSpPr txBox="1"/>
          <p:nvPr/>
        </p:nvSpPr>
        <p:spPr>
          <a:xfrm>
            <a:off x="5940000" y="1800000"/>
            <a:ext cx="4680000" cy="1440000"/>
          </a:xfrm>
          <a:prstGeom prst="rect">
            <a:avLst/>
          </a:prstGeom>
          <a:solidFill>
            <a:srgbClr val="FFFFFF"/>
          </a:solidFill>
        </p:spPr>
        <p:txBody>
          <a:bodyPr/>
          <a:lstStyle/>
          <a:p>
            <a:r>
              <a:rPr lang="en-US" sz="1300" b="0">
                <a:solidFill>
                  <a:srgbClr val="1F2328"/>
                </a:solidFill>
              </a:rPr>
              <a:t>Headless_Reporting_Agent_Backend.js</a:t>
            </a:r>
          </a:p>
          <a:p>
            <a:r>
              <a:rPr lang="en-US" sz="1300" b="0">
                <a:solidFill>
                  <a:srgbClr val="1F2328"/>
                </a:solidFill>
              </a:rPr>
              <a:t>Full query pipeline: parse, route, fetch, normalise, filter, rate-calc, session store, journey discovery, overview aggregator.</a:t>
            </a:r>
          </a:p>
        </p:txBody>
      </p:sp>
      <p:sp>
        <p:nvSpPr>
          <p:cNvPr id="100049" name="F3"/>
          <p:cNvSpPr txBox="1"/>
          <p:nvPr/>
        </p:nvSpPr>
        <p:spPr>
          <a:xfrm>
            <a:off x="648000" y="3528000"/>
            <a:ext cx="4860000" cy="1260000"/>
          </a:xfrm>
          <a:prstGeom prst="rect">
            <a:avLst/>
          </a:prstGeom>
          <a:solidFill>
            <a:srgbClr val="FFFFFF"/>
          </a:solidFill>
        </p:spPr>
        <p:txBody>
          <a:bodyPr/>
          <a:lstStyle/>
          <a:p>
            <a:r>
              <a:rPr lang="en-US" sz="1300" b="0">
                <a:solidFill>
                  <a:srgbClr val="1F2328"/>
                </a:solidFill>
              </a:rPr>
              <a:t>Headless_Reporting_Agent.js</a:t>
            </a:r>
          </a:p>
          <a:p>
            <a:r>
              <a:rPr lang="en-US" sz="1300" b="0">
                <a:solidFill>
                  <a:srgbClr val="1F2328"/>
                </a:solidFill>
              </a:rPr>
              <a:t>Conversational layer: intent classifier, reply formatter, handoff protocol, context inheritance.</a:t>
            </a:r>
          </a:p>
        </p:txBody>
      </p:sp>
      <p:sp>
        <p:nvSpPr>
          <p:cNvPr id="100050" name="F4"/>
          <p:cNvSpPr txBox="1"/>
          <p:nvPr/>
        </p:nvSpPr>
        <p:spPr>
          <a:xfrm>
            <a:off x="5940000" y="3528000"/>
            <a:ext cx="4680000" cy="1260000"/>
          </a:xfrm>
          <a:prstGeom prst="rect">
            <a:avLst/>
          </a:prstGeom>
          <a:solidFill>
            <a:srgbClr val="FFFFFF"/>
          </a:solidFill>
        </p:spPr>
        <p:txBody>
          <a:bodyPr/>
          <a:lstStyle/>
          <a:p>
            <a:r>
              <a:rPr lang="en-US" sz="1300" b="0">
                <a:solidFill>
                  <a:srgbClr val="1F2328"/>
                </a:solidFill>
              </a:rPr>
              <a:t>Headless_Reporting_Dashboard.jsx</a:t>
            </a:r>
          </a:p>
          <a:p>
            <a:r>
              <a:rPr lang="en-US" sz="1300" b="0">
                <a:solidFill>
                  <a:srgbClr val="1F2328"/>
                </a:solidFill>
              </a:rPr>
              <a:t>React SPA: 3 drill levels, KPI tiles, area charts, sortable tables, sparklines, status pills, CSV export.</a:t>
            </a:r>
          </a:p>
        </p:txBody>
      </p:sp>
      <p:sp>
        <p:nvSpPr>
          <p:cNvPr id="100051" name="F5"/>
          <p:cNvSpPr txBox="1"/>
          <p:nvPr/>
        </p:nvSpPr>
        <p:spPr>
          <a:xfrm>
            <a:off x="648000" y="5076000"/>
            <a:ext cx="4860000" cy="1080000"/>
          </a:xfrm>
          <a:prstGeom prst="rect">
            <a:avLst/>
          </a:prstGeom>
          <a:solidFill>
            <a:srgbClr val="FFFFFF"/>
          </a:solidFill>
        </p:spPr>
        <p:txBody>
          <a:bodyPr/>
          <a:lstStyle/>
          <a:p>
            <a:r>
              <a:rPr lang="en-US" sz="1300" b="0">
                <a:solidFill>
                  <a:srgbClr val="1F2328"/>
                </a:solidFill>
              </a:rPr>
              <a:t>Test suites (93 tests) + Technical Documentation</a:t>
            </a:r>
          </a:p>
          <a:p>
            <a:r>
              <a:rPr lang="en-US" sz="1300" b="0">
                <a:solidFill>
                  <a:srgbClr val="1F2328"/>
                </a:solidFill>
              </a:rPr>
              <a:t>All core logic covered. Productionisation roadmap fully documented (P0–P3, 16 items).</a:t>
            </a:r>
          </a:p>
        </p:txBody>
      </p:sp>
      <p:sp>
        <p:nvSpPr>
          <p:cNvPr id="100052" name="F6"/>
          <p:cNvSpPr txBox="1"/>
          <p:nvPr/>
        </p:nvSpPr>
        <p:spPr>
          <a:xfrm>
            <a:off x="5940000" y="5076000"/>
            <a:ext cx="4680000" cy="1080000"/>
          </a:xfrm>
          <a:prstGeom prst="rect">
            <a:avLst/>
          </a:prstGeom>
          <a:solidFill>
            <a:srgbClr val="FFFFFF"/>
          </a:solidFill>
        </p:spPr>
        <p:txBody>
          <a:bodyPr/>
          <a:lstStyle/>
          <a:p>
            <a:r>
              <a:rPr lang="en-US" sz="1300" b="0">
                <a:solidFill>
                  <a:srgbClr val="1F2328"/>
                </a:solidFill>
              </a:rPr>
              <a:t>Status: Functional prototype — logic is production-quality. Gaps: hosting, auth (OIDC/Azure AD), external session store (Redis), frontend build pipeline.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100053" name="Label"/>
          <p:cNvSpPr txBox="1"/>
          <p:nvPr/>
        </p:nvSpPr>
        <p:spPr>
          <a:xfrm>
            <a:off x="648000" y="432000"/>
            <a:ext cx="5400000" cy="252000"/>
          </a:xfrm>
          <a:prstGeom prst="rect">
            <a:avLst/>
          </a:prstGeom>
          <a:noFill/>
        </p:spPr>
        <p:txBody>
          <a:bodyPr/>
          <a:lstStyle/>
          <a:p>
            <a:r>
              <a:rPr lang="en-US" sz="1000" b="1">
                <a:solidFill>
                  <a:srgbClr val="3B6FE0"/>
                </a:solidFill>
              </a:rPr>
              <a:t>NEXT STEPS</a:t>
            </a:r>
          </a:p>
        </p:txBody>
      </p:sp>
      <p:sp>
        <p:nvSpPr>
          <p:cNvPr id="100054" name="Title"/>
          <p:cNvSpPr txBox="1"/>
          <p:nvPr/>
        </p:nvSpPr>
        <p:spPr>
          <a:xfrm>
            <a:off x="648000" y="792000"/>
            <a:ext cx="10080000" cy="720000"/>
          </a:xfrm>
          <a:prstGeom prst="rect">
            <a:avLst/>
          </a:prstGeom>
          <a:noFill/>
        </p:spPr>
        <p:txBody>
          <a:bodyPr/>
          <a:lstStyle/>
          <a:p>
            <a:r>
              <a:rPr lang="en-US" sz="3200" b="1">
                <a:solidFill>
                  <a:srgbClr val="FFFFFF"/>
                </a:solidFill>
              </a:rPr>
              <a:t>Productionisation Roadmap</a:t>
            </a:r>
          </a:p>
        </p:txBody>
      </p:sp>
      <p:sp>
        <p:nvSpPr>
          <p:cNvPr id="100055" name="P0"/>
          <p:cNvSpPr txBox="1"/>
          <p:nvPr/>
        </p:nvSpPr>
        <p:spPr>
          <a:xfrm>
            <a:off x="648000" y="1800000"/>
            <a:ext cx="4860000" cy="3240000"/>
          </a:xfrm>
          <a:prstGeom prst="rect">
            <a:avLst/>
          </a:prstGeom>
          <a:solidFill>
            <a:srgbClr val="1E2436"/>
          </a:solidFill>
        </p:spPr>
        <p:txBody>
          <a:bodyPr/>
          <a:lstStyle/>
          <a:p>
            <a:r>
              <a:rPr lang="en-US" sz="1300" b="0">
                <a:solidFill>
                  <a:srgbClr val="FFFFFF"/>
                </a:solidFill>
              </a:rPr>
              <a:t>P0 — Must Have Before Any Deployment</a:t>
            </a:r>
          </a:p>
          <a:p>
            <a:endParaRPr lang="en-US" sz="1300" b="0">
              <a:solidFill>
                <a:srgbClr val="FFFFFF"/>
              </a:solidFill>
            </a:endParaRPr>
          </a:p>
          <a:p>
            <a:r>
              <a:rPr lang="en-US" sz="1300" b="0">
                <a:solidFill>
                  <a:srgbClr val="FFFFFF"/>
                </a:solidFill>
              </a:rPr>
              <a:t>1. Backend hosting decision (container / serverless / PaaS)</a:t>
            </a:r>
          </a:p>
          <a:p>
            <a:r>
              <a:rPr lang="en-US" sz="1300" b="0">
                <a:solidFill>
                  <a:srgbClr val="FFFFFF"/>
                </a:solidFill>
              </a:rPr>
              <a:t>2. External session store — Redis or equivalent (in-memory Map is not production-safe)</a:t>
            </a:r>
          </a:p>
          <a:p>
            <a:r>
              <a:rPr lang="en-US" sz="1300" b="0">
                <a:solidFill>
                  <a:srgbClr val="FFFFFF"/>
                </a:solidFill>
              </a:rPr>
              <a:t>3. Authentication &amp; authorisation — OIDC / Azure AD (Entra ID), MFA via IdP</a:t>
            </a:r>
          </a:p>
          <a:p>
            <a:r>
              <a:rPr lang="en-US" sz="1300" b="0">
                <a:solidFill>
                  <a:srgbClr val="FFFFFF"/>
                </a:solidFill>
              </a:rPr>
              <a:t>4. SFMC credential management — Azure Key Vault or AWS Secrets Manager</a:t>
            </a:r>
          </a:p>
          <a:p>
            <a:r>
              <a:rPr lang="en-US" sz="1300" b="0">
                <a:solidFill>
                  <a:srgbClr val="FFFFFF"/>
                </a:solidFill>
              </a:rPr>
              <a:t>5. TLS 1.2+ on all traffic (load balancer / ingress layer)</a:t>
            </a:r>
          </a:p>
        </p:txBody>
      </p:sp>
      <p:sp>
        <p:nvSpPr>
          <p:cNvPr id="100056" name="P1P2"/>
          <p:cNvSpPr txBox="1"/>
          <p:nvPr/>
        </p:nvSpPr>
        <p:spPr>
          <a:xfrm>
            <a:off x="5940000" y="1800000"/>
            <a:ext cx="4680000" cy="3240000"/>
          </a:xfrm>
          <a:prstGeom prst="rect">
            <a:avLst/>
          </a:prstGeom>
          <a:solidFill>
            <a:srgbClr val="1E2436"/>
          </a:solidFill>
        </p:spPr>
        <p:txBody>
          <a:bodyPr/>
          <a:lstStyle/>
          <a:p>
            <a:r>
              <a:rPr lang="en-US" sz="1300" b="0">
                <a:solidFill>
                  <a:srgbClr val="FFFFFF"/>
                </a:solidFill>
              </a:rPr>
              <a:t>P1 — Production Quality</a:t>
            </a:r>
          </a:p>
          <a:p>
            <a:endParaRPr lang="en-US" sz="1300" b="0">
              <a:solidFill>
                <a:srgbClr val="FFFFFF"/>
              </a:solidFill>
            </a:endParaRPr>
          </a:p>
          <a:p>
            <a:r>
              <a:rPr lang="en-US" sz="1300" b="0">
                <a:solidFill>
                  <a:srgbClr val="FFFFFF"/>
                </a:solidFill>
              </a:rPr>
              <a:t>6. Frontend build pipeline (Vite, replace runtime Babel)</a:t>
            </a:r>
          </a:p>
          <a:p>
            <a:r>
              <a:rPr lang="en-US" sz="1300" b="0">
                <a:solidFill>
                  <a:srgbClr val="FFFFFF"/>
                </a:solidFill>
              </a:rPr>
              <a:t>7. CORS hardening (explicit origin allowlist)</a:t>
            </a:r>
          </a:p>
          <a:p>
            <a:r>
              <a:rPr lang="en-US" sz="1300" b="0">
                <a:solidFill>
                  <a:srgbClr val="FFFFFF"/>
                </a:solidFill>
              </a:rPr>
              <a:t>8. Structured logging — no PII in logs (pino)</a:t>
            </a:r>
          </a:p>
          <a:p>
            <a:r>
              <a:rPr lang="en-US" sz="1300" b="0">
                <a:solidFill>
                  <a:srgbClr val="FFFFFF"/>
                </a:solidFill>
              </a:rPr>
              <a:t>9. Health &amp; readiness endpoints (/health, /ready)</a:t>
            </a:r>
          </a:p>
          <a:p>
            <a:r>
              <a:rPr lang="en-US" sz="1300" b="0">
                <a:solidFill>
                  <a:srgbClr val="FFFFFF"/>
                </a:solidFill>
              </a:rPr>
              <a:t>10. Rate limiting on query endpoints</a:t>
            </a:r>
          </a:p>
          <a:p>
            <a:endParaRPr lang="en-US" sz="1300" b="0">
              <a:solidFill>
                <a:srgbClr val="FFFFFF"/>
              </a:solidFill>
            </a:endParaRPr>
          </a:p>
          <a:p>
            <a:r>
              <a:rPr lang="en-US" sz="1300" b="0">
                <a:solidFill>
                  <a:srgbClr val="FFFFFF"/>
                </a:solidFill>
              </a:rPr>
              <a:t>P2 — Dashboard Completeness</a:t>
            </a:r>
          </a:p>
          <a:p>
            <a:endParaRPr lang="en-US" sz="1300" b="0">
              <a:solidFill>
                <a:srgbClr val="FFFFFF"/>
              </a:solidFill>
            </a:endParaRPr>
          </a:p>
          <a:p>
            <a:r>
              <a:rPr lang="en-US" sz="1300" b="0">
                <a:solidFill>
                  <a:srgbClr val="FFFFFF"/>
                </a:solidFill>
              </a:rPr>
              <a:t>11. Remove seeded mock data fallback</a:t>
            </a:r>
          </a:p>
          <a:p>
            <a:r>
              <a:rPr lang="en-US" sz="1300" b="0">
                <a:solidFill>
                  <a:srgbClr val="FFFFFF"/>
                </a:solidFill>
              </a:rPr>
              <a:t>12. Error &amp; empty states for all failure paths</a:t>
            </a:r>
          </a:p>
          <a:p>
            <a:r>
              <a:rPr lang="en-US" sz="1300" b="0">
                <a:solidFill>
                  <a:srgbClr val="FFFFFF"/>
                </a:solidFill>
              </a:rPr>
              <a:t>13. SMS undelivered reason breakdown table</a:t>
            </a:r>
          </a:p>
        </p:txBody>
      </p:sp>
      <p:sp>
        <p:nvSpPr>
          <p:cNvPr id="100057" name="P3"/>
          <p:cNvSpPr txBox="1"/>
          <p:nvPr/>
        </p:nvSpPr>
        <p:spPr>
          <a:xfrm>
            <a:off x="648000" y="5400000"/>
            <a:ext cx="10080000" cy="540000"/>
          </a:xfrm>
          <a:prstGeom prst="rect">
            <a:avLst/>
          </a:prstGeom>
          <a:noFill/>
        </p:spPr>
        <p:txBody>
          <a:bodyPr/>
          <a:lstStyle/>
          <a:p>
            <a:r>
              <a:rPr lang="en-US" sz="1300" b="0">
                <a:solidFill>
                  <a:srgbClr val="9BAABB"/>
                </a:solidFill>
              </a:rPr>
              <a:t>P3 — Future  |  Bob integration wrapper  ·  Dashboard URL deep-link sharing  ·  Rollup DE for overview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1899</Words>
  <Application>Microsoft Office PowerPoint</Application>
  <PresentationFormat>Widescreen</PresentationFormat>
  <Paragraphs>144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OfficeCLI</dc:creator>
  <cp:lastModifiedBy>James Borden</cp:lastModifiedBy>
  <cp:revision>1</cp:revision>
  <dcterms:created xsi:type="dcterms:W3CDTF">2026-08-31T07:14:38Z</dcterms:created>
  <dcterms:modified xsi:type="dcterms:W3CDTF">2026-09-01T02:10:05Z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1.0.145</vt:lpwstr>
  </property>
  <property fmtid="{D5CDD505-2E9C-101B-9397-08002B2CF9AE}" pid="3" name="OfficeCLI.LastModified">
    <vt:lpwstr>2026-08-31T07:20:02Z</vt:lpwstr>
  </property>
</Properties>
</file>